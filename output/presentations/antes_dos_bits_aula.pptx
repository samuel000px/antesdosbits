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bcc68660cb4f45" /><Relationship Type="http://schemas.openxmlformats.org/officeDocument/2006/relationships/extended-properties" Target="/docProps/app.xml" Id="Rdde1f2f2dd0246d8" /><Relationship Type="http://schemas.openxmlformats.org/officeDocument/2006/relationships/officeDocument" Target="/ppt/presentation.xml" Id="R1fdec3e5364c4a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0db85da88a4ca0"/>
  </p:sldMasterIdLst>
  <p:notesMasterIdLst>
    <p:notesMasterId xmlns:r="http://schemas.openxmlformats.org/officeDocument/2006/relationships" r:id="R27c27e6d160d4232"/>
  </p:notesMasterIdLst>
  <p:sldIdLst>
    <p:sldId xmlns:r="http://schemas.openxmlformats.org/officeDocument/2006/relationships" id="256" r:id="Rea3defd272f04724"/>
    <p:sldId xmlns:r="http://schemas.openxmlformats.org/officeDocument/2006/relationships" id="257" r:id="R3bed32325de54195"/>
    <p:sldId xmlns:r="http://schemas.openxmlformats.org/officeDocument/2006/relationships" id="258" r:id="Rec22a58d56d04464"/>
    <p:sldId xmlns:r="http://schemas.openxmlformats.org/officeDocument/2006/relationships" id="259" r:id="R61a077e94d9f4440"/>
    <p:sldId xmlns:r="http://schemas.openxmlformats.org/officeDocument/2006/relationships" id="260" r:id="R2531cc3d6b694f48"/>
    <p:sldId xmlns:r="http://schemas.openxmlformats.org/officeDocument/2006/relationships" id="261" r:id="Rf2e8693a521844d7"/>
    <p:sldId xmlns:r="http://schemas.openxmlformats.org/officeDocument/2006/relationships" id="262" r:id="R68b98d0d44d14e02"/>
    <p:sldId xmlns:r="http://schemas.openxmlformats.org/officeDocument/2006/relationships" id="263" r:id="Rd849f7e3272a4951"/>
    <p:sldId xmlns:r="http://schemas.openxmlformats.org/officeDocument/2006/relationships" id="264" r:id="R65ae3bd7dd3f415c"/>
    <p:sldId xmlns:r="http://schemas.openxmlformats.org/officeDocument/2006/relationships" id="265" r:id="R13f265a89d6c41b2"/>
    <p:sldId xmlns:r="http://schemas.openxmlformats.org/officeDocument/2006/relationships" id="266" r:id="R252a970844ab4c2d"/>
    <p:sldId xmlns:r="http://schemas.openxmlformats.org/officeDocument/2006/relationships" id="267" r:id="Rb4dc9cd81e7c4a9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a7cc74271e4752" /><Relationship Type="http://schemas.openxmlformats.org/officeDocument/2006/relationships/slideMaster" Target="/ppt/slideMasters/slideMaster1.xml" Id="Rfe0db85da88a4ca0" /><Relationship Type="http://schemas.openxmlformats.org/officeDocument/2006/relationships/notesMaster" Target="/ppt/notesMasters/notesMaster1.xml" Id="R27c27e6d160d4232" /><Relationship Type="http://schemas.openxmlformats.org/officeDocument/2006/relationships/presProps" Target="/ppt/presProps.xml" Id="R8792216893d24f69" /><Relationship Type="http://schemas.openxmlformats.org/officeDocument/2006/relationships/tableStyles" Target="/ppt/tableStyles.xml" Id="Re5669ffc1e004fd9" /><Relationship Type="http://schemas.openxmlformats.org/officeDocument/2006/relationships/slide" Target="/ppt/slides/slide1.xml" Id="Rea3defd272f04724" /><Relationship Type="http://schemas.openxmlformats.org/officeDocument/2006/relationships/slide" Target="/ppt/slides/slide2.xml" Id="R3bed32325de54195" /><Relationship Type="http://schemas.openxmlformats.org/officeDocument/2006/relationships/slide" Target="/ppt/slides/slide3.xml" Id="Rec22a58d56d04464" /><Relationship Type="http://schemas.openxmlformats.org/officeDocument/2006/relationships/slide" Target="/ppt/slides/slide4.xml" Id="R61a077e94d9f4440" /><Relationship Type="http://schemas.openxmlformats.org/officeDocument/2006/relationships/slide" Target="/ppt/slides/slide5.xml" Id="R2531cc3d6b694f48" /><Relationship Type="http://schemas.openxmlformats.org/officeDocument/2006/relationships/slide" Target="/ppt/slides/slide6.xml" Id="Rf2e8693a521844d7" /><Relationship Type="http://schemas.openxmlformats.org/officeDocument/2006/relationships/slide" Target="/ppt/slides/slide7.xml" Id="R68b98d0d44d14e02" /><Relationship Type="http://schemas.openxmlformats.org/officeDocument/2006/relationships/slide" Target="/ppt/slides/slide8.xml" Id="Rd849f7e3272a4951" /><Relationship Type="http://schemas.openxmlformats.org/officeDocument/2006/relationships/slide" Target="/ppt/slides/slide9.xml" Id="R65ae3bd7dd3f415c" /><Relationship Type="http://schemas.openxmlformats.org/officeDocument/2006/relationships/slide" Target="/ppt/slides/slide10.xml" Id="R13f265a89d6c41b2" /><Relationship Type="http://schemas.openxmlformats.org/officeDocument/2006/relationships/slide" Target="/ppt/slides/slide11.xml" Id="R252a970844ab4c2d" /><Relationship Type="http://schemas.openxmlformats.org/officeDocument/2006/relationships/slide" Target="/ppt/slides/slide12.xml" Id="Rb4dc9cd81e7c4a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7dbcc7133547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facb27b8164b8d" /><Relationship Type="http://schemas.openxmlformats.org/officeDocument/2006/relationships/notesMaster" Target="/ppt/notesMasters/notesMaster1.xml" Id="R4f0293e27eb442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873aa457ae4aad" /><Relationship Type="http://schemas.openxmlformats.org/officeDocument/2006/relationships/notesMaster" Target="/ppt/notesMasters/notesMaster1.xml" Id="R2ae69b10dd7342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5dee512eec424d" /><Relationship Type="http://schemas.openxmlformats.org/officeDocument/2006/relationships/notesMaster" Target="/ppt/notesMasters/notesMaster1.xml" Id="Re995e264d45f45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a9f90a5e244c87" /><Relationship Type="http://schemas.openxmlformats.org/officeDocument/2006/relationships/notesMaster" Target="/ppt/notesMasters/notesMaster1.xml" Id="Rcdf0cd78c46a4d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b4fb2b7498406a" /><Relationship Type="http://schemas.openxmlformats.org/officeDocument/2006/relationships/notesMaster" Target="/ppt/notesMasters/notesMaster1.xml" Id="Rbe6649b076574c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afd77254ff4ccd" /><Relationship Type="http://schemas.openxmlformats.org/officeDocument/2006/relationships/notesMaster" Target="/ppt/notesMasters/notesMaster1.xml" Id="R04de873cb8fd4f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9454858e33428d" /><Relationship Type="http://schemas.openxmlformats.org/officeDocument/2006/relationships/notesMaster" Target="/ppt/notesMasters/notesMaster1.xml" Id="R87089fd0226449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237f0a64124887" /><Relationship Type="http://schemas.openxmlformats.org/officeDocument/2006/relationships/notesMaster" Target="/ppt/notesMasters/notesMaster1.xml" Id="R402ecfeff1ae44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bbfb63ab694c96" /><Relationship Type="http://schemas.openxmlformats.org/officeDocument/2006/relationships/notesMaster" Target="/ppt/notesMasters/notesMaster1.xml" Id="R7b3b34bb5cd649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4dd37deaa74146" /><Relationship Type="http://schemas.openxmlformats.org/officeDocument/2006/relationships/notesMaster" Target="/ppt/notesMasters/notesMaster1.xml" Id="Rc8a3eda886274b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ce1ed0fe294121" /><Relationship Type="http://schemas.openxmlformats.org/officeDocument/2006/relationships/notesMaster" Target="/ppt/notesMasters/notesMaster1.xml" Id="R8f15c3cf7ee340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bb258c4c404447" /><Relationship Type="http://schemas.openxmlformats.org/officeDocument/2006/relationships/notesMaster" Target="/ppt/notesMasters/notesMaster1.xml" Id="R48340b884f6c47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1be283da74f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e8356960a34e4f" /><Relationship Type="http://schemas.openxmlformats.org/officeDocument/2006/relationships/slideLayout" Target="/ppt/slideLayouts/slideLayout1.xml" Id="Rbf680b59f0f04d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680b59f0f04d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e42d4450643d5" /><Relationship Type="http://schemas.openxmlformats.org/officeDocument/2006/relationships/notesSlide" Target="/ppt/notesSlides/notesSlide1.xml" Id="R650df6d39dcc4d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f96a4ebbb4b81" /><Relationship Type="http://schemas.openxmlformats.org/officeDocument/2006/relationships/notesSlide" Target="/ppt/notesSlides/notesSlide2.xml" Id="R45a863772bf947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2f9e9c89d4465" /><Relationship Type="http://schemas.openxmlformats.org/officeDocument/2006/relationships/notesSlide" Target="/ppt/notesSlides/notesSlide3.xml" Id="R719ac34986b647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829b5a2804190" /><Relationship Type="http://schemas.openxmlformats.org/officeDocument/2006/relationships/notesSlide" Target="/ppt/notesSlides/notesSlide4.xml" Id="R48f9975082f845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f8a0168c341af" /><Relationship Type="http://schemas.openxmlformats.org/officeDocument/2006/relationships/notesSlide" Target="/ppt/notesSlides/notesSlide5.xml" Id="R289b7c57c7574a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8cdd73eb34409" /><Relationship Type="http://schemas.openxmlformats.org/officeDocument/2006/relationships/notesSlide" Target="/ppt/notesSlides/notesSlide6.xml" Id="R566cec0c191946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e0d02447544c1" /><Relationship Type="http://schemas.openxmlformats.org/officeDocument/2006/relationships/notesSlide" Target="/ppt/notesSlides/notesSlide7.xml" Id="R136e53e794e849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3af2a385846c0" /><Relationship Type="http://schemas.openxmlformats.org/officeDocument/2006/relationships/notesSlide" Target="/ppt/notesSlides/notesSlide8.xml" Id="R87445f69683d4e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5364caa544395" /><Relationship Type="http://schemas.openxmlformats.org/officeDocument/2006/relationships/notesSlide" Target="/ppt/notesSlides/notesSlide9.xml" Id="R332d630ed2754f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d57cb5e164c8f" /><Relationship Type="http://schemas.openxmlformats.org/officeDocument/2006/relationships/notesSlide" Target="/ppt/notesSlides/notesSlide10.xml" Id="R51f984eca4794d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b301393f04fde" /><Relationship Type="http://schemas.openxmlformats.org/officeDocument/2006/relationships/notesSlide" Target="/ppt/notesSlides/notesSlide11.xml" Id="R7d1ba79aa92447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dbf0dc23a406f" /><Relationship Type="http://schemas.openxmlformats.org/officeDocument/2006/relationships/notesSlide" Target="/ppt/notesSlides/notesSlide12.xml" Id="R6b13ffd8f74e42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E13E7B-A7D2-4631-A87D-185E014F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62000"/>
            <a:ext cx="4476750" cy="49530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EF3C6"/>
          </a:solidFill>
          <a:ln xmlns:a="http://schemas.openxmlformats.org/drawingml/2006/main" w="9525">
            <a:solidFill>
              <a:srgbClr val="BB4D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02512-0EB2-492A-9D16-0944B8F9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90600"/>
            <a:ext cx="394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0712"/>
                </a:solidFill>
              </a:defRPr>
            </a:pPr>
            <a:r>
              <a:rPr sz="1350" b="1">
                <a:solidFill>
                  <a:srgbClr val="9F0712"/>
                </a:solidFill>
              </a:rPr>
              <a:t>IBM 5081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43D9A-A54C-469A-A7A0-B7C7810E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28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602AD-9927-44CE-AB6F-40292CB3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28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363BD-87D0-4E64-966D-3DC80EEB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28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0C4D2-07B3-4643-8D23-4315BB65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28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F465A-2D3D-4F2B-837F-69A42B9F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28B32-AFBA-412B-B037-7E2FF788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28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00D64-EA9B-458A-ACCB-4D7A8986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A1B83-D1B3-4F51-8D33-FE72B9CB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428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72ADB-0472-4689-9D72-6F0800AC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428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6D17A-F972-4267-BE03-58387DB2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428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C16C0-10C4-4623-AE18-7ACDA55C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28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9528D-6FB6-4D77-89F8-28275480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28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39EEB-C933-4F8E-8D9B-1547DB67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28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932A9-CC67-402F-A565-BD68A16F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28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15AF8F-DD2E-404A-8A09-E173966C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28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F74F20-6018-4744-9E64-E56D81CC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28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912F80-B353-4693-A671-89189E9E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28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4B946-931F-4B46-9067-16572D8B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28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98A28A-F5E3-4CAF-B040-6BF3209C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28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35F216-51FC-4F75-A184-14B45CD4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228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04D7F-0134-4F35-8CCD-4F36E94B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B704DB-E2B1-499E-AFB7-0EE907F5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2C3246-D5CA-450F-B096-EAE06A74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1112CA-6BA5-4CC9-A5DB-B3D2CD71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AD014-8E82-4C80-A5F2-90E09BAD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E82150-AAF1-4B54-90E1-1BD9A12A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9352F7-435D-4F58-B457-3CD2F5EA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0EC961-A437-43F9-82E6-3A2F5E09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AF3613-C322-4851-B2F8-3E36B8D1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26834D-755D-4C8C-BD07-71C22A31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5EA6AA-A22A-4CB9-8626-4C175B33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29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78E288-E378-44E2-9B65-9E6C8B38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29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ECC773-3E67-4956-90FD-C01251A7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29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1056BE-6FB5-4366-BC0A-918BFE0B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29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4BFCBE-FFE0-40AC-A36B-4DE337DD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29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177F84-C92A-47D6-A96C-B8C85497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29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0B3513-7172-499F-9523-B578B579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29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008786-8D8D-41A7-9029-886A0581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829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84038F-C777-486D-8149-4985ECB3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829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89ECEF-10AD-4B08-9A06-F8B1B6DC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829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AFA77B-A2EA-4781-8EC6-8CA14C78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29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851761-6E05-41F0-BA5F-28D1B215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29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9A9A69-F656-4638-8B84-208EF0B4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29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7B1DBF-719F-447E-96F3-CEC133C4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29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911546-26EC-4C75-B36A-1A7C8767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D0ADF5-F758-4B05-ADAC-9BE0BA5D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29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043F62-A303-430A-84C8-69018246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29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50EC08-A379-4884-83E7-47BC307E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629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FF4F50-4089-4A95-AD3C-C610D04C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629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B2D258-BD9A-4066-B0AC-5A380678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629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2CA4D4-92E7-4C48-B136-61099C86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AF9A15-AFFD-49FE-AC47-B2EAE837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230"/>
                </a:solidFill>
              </a:defRPr>
            </a:pPr>
            <a:r>
              <a:rPr sz="1350" b="1">
                <a:solidFill>
                  <a:srgbClr val="FFD230"/>
                </a:solidFill>
              </a:rPr>
              <a:t>AULA DEMONSTRATIVA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2FEE76-5173-4A6C-8E5F-CA9832D7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Antes dos Bits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A63241-DA94-496F-A586-44930169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BEB"/>
                </a:solidFill>
              </a:defRPr>
            </a:pPr>
            <a:r>
              <a:rPr sz="1950" b="0">
                <a:solidFill>
                  <a:srgbClr val="FFFBEB"/>
                </a:solidFill>
              </a:rPr>
              <a:t>Um museu jogável sobre cartões perfurados, automação e o nascimento da computação moderna.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E28999-FF97-49CD-8038-50993B83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EF3C6"/>
                </a:solidFill>
              </a:defRPr>
            </a:pPr>
            <a:r>
              <a:rPr sz="1650" b="0">
                <a:solidFill>
                  <a:srgbClr val="FEF3C6"/>
                </a:solidFill>
              </a:rPr>
              <a:t>Roteiro: jogar, observar e conectar cada mecânica à história.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18A015-D9CB-4B6B-9C0D-847E10A0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9716B"/>
                </a:solidFill>
              </a:defRPr>
            </a:pPr>
            <a:r>
              <a:rPr sz="1200" b="1">
                <a:solidFill>
                  <a:srgbClr val="79716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967837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D328CB-12FB-47C9-A109-1CDBD93A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VISÃO GERAL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D29B8-F29A-4E6F-B551-8AC95258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A ideia central do jogo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F8A02-32A4-4ADE-97B7-D7311DFD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Cartões perfurados aparecem como linguagem física: furo = instrução, dado ou controle.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CBBF2-7C37-415B-B9AB-3E602EC7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Cada fase transforma um momento histórico em uma regra jogável.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F9572-FD4E-422C-834D-1AD9C8B6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O aluno aprende experimentando erro, custo, velocidade, ordem e reconhecimento visual.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862A8-83ED-474E-81CB-03D9ED2A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57300"/>
            <a:ext cx="3714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EF3C6"/>
          </a:solidFill>
          <a:ln xmlns:a="http://schemas.openxmlformats.org/drawingml/2006/main" w="9525">
            <a:solidFill>
              <a:srgbClr val="BB4D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7FC4A-8B20-4209-95D5-601B5146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48590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0712"/>
                </a:solidFill>
              </a:defRPr>
            </a:pPr>
            <a:r>
              <a:rPr sz="1350" b="1">
                <a:solidFill>
                  <a:srgbClr val="9F0712"/>
                </a:solidFill>
              </a:rPr>
              <a:t>HOLLERITH 1890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58121-D9B4-4FF4-B13B-B675B37A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924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DE162-66CD-493E-9890-444EAE11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924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54D46-594F-4984-8054-79269890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924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BB980-06A9-40A7-8B41-683CAD0D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924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E4650-CD80-47B5-B38B-B46B235F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24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EC28C-E273-44A6-AD02-1BD59BDB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24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B731D-41DC-4299-AF81-ED41754E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924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AA49F-665F-44BC-A442-FA029594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1924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0C4C1-32F4-428F-B60B-321E2F5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1924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4718A-6D76-41F3-92DA-E90E6686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924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3222CE-743C-4BFE-8083-92ED16DE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FC8A0C-62A4-46E9-8931-DFF9206B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56F28-C15B-4803-928A-39D1B665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5CF7C-A635-49DC-AD29-732EAFBE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B8ECA-87C4-4003-B98D-71800454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A2ECA4-E47C-407C-A2F2-A08D204A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94AD37-BEBF-4C24-8C8F-AE39EC0E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5EF0AB-BF1A-466D-883A-CEEFBF1C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DBCB9C-4B4D-4525-8C00-69DE8080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D57026-7707-4B79-99E7-32A415B9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110B77-9567-4A91-8782-5A691013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6F2862-1AF6-4FD1-9032-DCEDFC7B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28DC50-8CAC-4526-B246-148B8B94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9FF323-A20D-46E5-B27B-77BCCF5C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04C217-ECCE-4AFD-A083-52C04165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F5F4BB-5D6A-4682-9BAB-980296E8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C19FF4-A147-46DA-B289-FCE0B199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4BB272-9152-4C38-9EBC-911DDE2D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5ED892-8F27-4ED6-90C9-CBBBF446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644C3A-0B78-44B1-813C-A58591AF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028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006A57-5C2B-4DBB-B458-9137FE63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81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DF5255-8F7E-4D24-AB3B-C19679FE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581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20D148-D21D-4E86-9147-DD254C23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81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A98F2F-73EC-4D40-8B08-6A91C645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581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717BA2-D00B-40D0-BF42-4280E807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581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DDC9C6-BA6E-4D36-B5D2-7A29B0FD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81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113BAB-D034-42A5-82A6-58F57A69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581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96FC6F-EF1D-4988-9386-52E2AD10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581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BF3AA6-C09B-4103-AF47-821649EB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581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9254A5-0A31-4CD0-811F-9857E4A0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581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DD4C60-33A6-49EC-A6B3-FE626A5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133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BCD09B-D91F-496A-81A4-D1E41C35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33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099E86-B23F-41D1-87BF-A668E9EF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133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6D676D-7678-4AD4-B6F9-EA675B8D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133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F77319-91EF-4C83-B456-E8F04352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133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A06FE8-F829-429B-8765-C66D549A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133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C71C0E-CF23-4E79-93EA-9860720B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133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FC59CB-7249-46B6-85F5-6C335402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133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9FCE28-42FA-4A8A-9EF8-B9B49F7C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33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7D02115-E9EC-47DD-A5E3-B77CBC5F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1338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3F87E0D-6FF4-4A1A-9AAA-718222AD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911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86F"/>
                </a:solidFill>
              </a:defRPr>
            </a:pPr>
            <a:r>
              <a:rPr sz="1500" b="1">
                <a:solidFill>
                  <a:srgbClr val="00786F"/>
                </a:solidFill>
              </a:rPr>
              <a:t>Mensagem para a turma: antes de bits invisíveis, computadores liam marcas materiais.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AD4DC6-A2BF-493D-B699-7CB5E401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9716B"/>
                </a:solidFill>
              </a:defRPr>
            </a:pPr>
            <a:r>
              <a:rPr sz="1200" b="1">
                <a:solidFill>
                  <a:srgbClr val="79716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69437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980536-1F92-49BE-8807-64D3E2E9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LINHA DO TEMPO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D8DD1-8B73-4F54-94B4-F91D19B5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Como apresentar a sequência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849D2-D49C-4644-A66D-01BFCEB0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428750" cy="1809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4D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14E12-353E-441A-B297-18A52C58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F0712"/>
                </a:solidFill>
              </a:defRPr>
            </a:pPr>
            <a:r>
              <a:rPr sz="1800" b="1">
                <a:solidFill>
                  <a:srgbClr val="9F0712"/>
                </a:solidFill>
              </a:rPr>
              <a:t>1804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CCFDF-FFD6-4D4A-80C3-38637910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Jacquard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80EFD-7475-45F2-B256-4E7E8B35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1123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34D"/>
                </a:solidFill>
              </a:defRPr>
            </a:pPr>
            <a:r>
              <a:rPr sz="1200" b="0">
                <a:solidFill>
                  <a:srgbClr val="57534D"/>
                </a:solidFill>
              </a:rPr>
              <a:t>cartões controlam fios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C0730-3BDF-40B1-B5F6-61F835F3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90750"/>
            <a:ext cx="1428750" cy="1809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EF3C6"/>
          </a:solidFill>
          <a:ln xmlns:a="http://schemas.openxmlformats.org/drawingml/2006/main" w="9525">
            <a:solidFill>
              <a:srgbClr val="BB4D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36A4E-21D4-4B92-A802-D7DF914A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38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F0712"/>
                </a:solidFill>
              </a:defRPr>
            </a:pPr>
            <a:r>
              <a:rPr sz="1800" b="1">
                <a:solidFill>
                  <a:srgbClr val="9F0712"/>
                </a:solidFill>
              </a:rPr>
              <a:t>1890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541CF-C862-4A3F-B13C-CCC8E03B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813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Hollerith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25E18-E399-4530-9644-529A4E19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38500"/>
            <a:ext cx="1123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34D"/>
                </a:solidFill>
              </a:defRPr>
            </a:pPr>
            <a:r>
              <a:rPr sz="1200" b="0">
                <a:solidFill>
                  <a:srgbClr val="57534D"/>
                </a:solidFill>
              </a:rPr>
              <a:t>cartões viram dados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F4432-6CFB-4D18-BD54-BD39599D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1428750" cy="1809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4D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D3E83-436C-4FE8-BC2B-B557595D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F0712"/>
                </a:solidFill>
              </a:defRPr>
            </a:pPr>
            <a:r>
              <a:rPr sz="1800" b="1">
                <a:solidFill>
                  <a:srgbClr val="9F0712"/>
                </a:solidFill>
              </a:rPr>
              <a:t>1924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EE305-C1E5-4D97-AE77-4600AB1D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IBM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1AB52-F5B5-4495-B08E-669EF348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38500"/>
            <a:ext cx="1123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34D"/>
                </a:solidFill>
              </a:defRPr>
            </a:pPr>
            <a:r>
              <a:rPr sz="1200" b="0">
                <a:solidFill>
                  <a:srgbClr val="57534D"/>
                </a:solidFill>
              </a:rPr>
              <a:t>máquinas processam lotes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053303-42BD-48B4-89D7-B490172D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90750"/>
            <a:ext cx="1428750" cy="1809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EF3C6"/>
          </a:solidFill>
          <a:ln xmlns:a="http://schemas.openxmlformats.org/drawingml/2006/main" w="9525">
            <a:solidFill>
              <a:srgbClr val="BB4D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2DB107-B1A4-43B2-ABB7-967C02FB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8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F0712"/>
                </a:solidFill>
              </a:defRPr>
            </a:pPr>
            <a:r>
              <a:rPr sz="1800" b="1">
                <a:solidFill>
                  <a:srgbClr val="9F0712"/>
                </a:solidFill>
              </a:rPr>
              <a:t>1957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A2147-CC9F-49B8-A38A-131F6FE6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813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FORTRAN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3C63D-2B5E-46D1-8A4E-F28972A9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38500"/>
            <a:ext cx="1123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34D"/>
                </a:solidFill>
              </a:defRPr>
            </a:pPr>
            <a:r>
              <a:rPr sz="1200" b="0">
                <a:solidFill>
                  <a:srgbClr val="57534D"/>
                </a:solidFill>
              </a:rPr>
              <a:t>programas viram pilhas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4D2B0-7EAA-473A-BA4A-59C77157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1428750" cy="1809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4D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193AD2-4C62-4D42-A1E5-AD4F2C47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F0712"/>
                </a:solidFill>
              </a:defRPr>
            </a:pPr>
            <a:r>
              <a:rPr sz="1800" b="1">
                <a:solidFill>
                  <a:srgbClr val="9F0712"/>
                </a:solidFill>
              </a:rPr>
              <a:t>1965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B26703-F1D3-42BF-818D-64A04259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813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Debug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C1A61E-5FFF-4301-BE8A-9DF33329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38500"/>
            <a:ext cx="1123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34D"/>
                </a:solidFill>
              </a:defRPr>
            </a:pPr>
            <a:r>
              <a:rPr sz="1200" b="0">
                <a:solidFill>
                  <a:srgbClr val="57534D"/>
                </a:solidFill>
              </a:rPr>
              <a:t>erro físico no lote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D33F1B-086D-46EC-94CD-DB036E11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190750"/>
            <a:ext cx="1428750" cy="1809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EF3C6"/>
          </a:solidFill>
          <a:ln xmlns:a="http://schemas.openxmlformats.org/drawingml/2006/main" w="9525">
            <a:solidFill>
              <a:srgbClr val="BB4D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624C5-135E-467D-84DC-110402B8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3812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F0712"/>
                </a:solidFill>
              </a:defRPr>
            </a:pPr>
            <a:r>
              <a:rPr sz="1800" b="1">
                <a:solidFill>
                  <a:srgbClr val="9F0712"/>
                </a:solidFill>
              </a:rPr>
              <a:t>Hoje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DE0143-0463-4A0A-9C41-76589A6D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813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IA/Moderno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6DACEB-37A7-4224-9A14-584FCC93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238500"/>
            <a:ext cx="1123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34D"/>
                </a:solidFill>
              </a:defRPr>
            </a:pPr>
            <a:r>
              <a:rPr sz="1200" b="0">
                <a:solidFill>
                  <a:srgbClr val="57534D"/>
                </a:solidFill>
              </a:rPr>
              <a:t>cartões viram objeto digital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04351B-521B-4AD8-B47B-D1389CA5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86F"/>
                </a:solidFill>
              </a:defRPr>
            </a:pPr>
            <a:r>
              <a:rPr sz="1800" b="1">
                <a:solidFill>
                  <a:srgbClr val="00786F"/>
                </a:solidFill>
              </a:rPr>
              <a:t>Use esta lâmina como mapa: cada jogo responde “o que o cartão fazia nessa época?”.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65709E-3E31-41CB-A3DA-FC3F25FD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9716B"/>
                </a:solidFill>
              </a:defRPr>
            </a:pPr>
            <a:r>
              <a:rPr sz="1200" b="1">
                <a:solidFill>
                  <a:srgbClr val="79716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69787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7E8F4F-54C5-49C8-A6A8-E2D668BA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JOGO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E8038-3E05-4FE5-B175-74A71E39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Tear de Jacquard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64008-E534-46EC-89BF-DC722D02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095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EF3C6"/>
          </a:solidFill>
          <a:ln xmlns:a="http://schemas.openxmlformats.org/drawingml/2006/main" w="9525">
            <a:solidFill>
              <a:srgbClr val="BB4D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2E8DE-6C7A-4708-8934-47101D1C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0712"/>
                </a:solidFill>
              </a:defRPr>
            </a:pPr>
            <a:r>
              <a:rPr sz="1350" b="1">
                <a:solidFill>
                  <a:srgbClr val="9F0712"/>
                </a:solidFill>
              </a:rPr>
              <a:t>JACQUARD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CCA96-0EEA-4882-8303-FA92D265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9360A-85CD-48E7-A429-7DDB8E9D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F0F48-E61B-420D-834A-3A822A06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B7F2C-59A2-4645-8410-34E02D40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E79FD-84D7-460C-99DC-9DF48F3E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6B002-5FAF-44D7-BB7A-14A3E3F1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8210D-4129-480F-AF04-988D23CC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8492B6-B898-44D3-9366-401ECC41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A8667-0B82-4E2A-83D4-B986E5F3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0C1DF-084E-4E9B-8378-F548A5D6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4AA73-D894-4498-9155-E47F2868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686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7ED11-FFD3-40AC-B3EF-64F8AAE2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86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CD8736-2232-4980-9846-1FFE5336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686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69E9E-5C99-4627-876E-9E145131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686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A417B-E41F-4A1C-BDFB-A3F95B0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686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890C0-B121-4395-89C8-59894B49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86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C2DBE-BF88-4CC1-8522-09A675E0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686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72BDC9-FABF-488E-951B-9ADB0F32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86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84E834-1353-429C-97E6-9B971A6A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86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1FF639-F814-4648-AB47-A3789964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86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CA4B02-B3DC-4AEC-A37F-24128F2C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05BCD5-E2F5-4E71-A775-C833E84A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829868-F000-4453-BA1C-EAB403A8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359BE1-1295-48D9-A5F1-EB958A8E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965259-BE67-47C4-BE12-0363D232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A69B63-F34E-4D45-997A-7840E986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248C0B-16B5-4CDE-B82E-AC4A3A81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2219EA-F179-4601-9F3B-C587F8D4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68DDE7-1EC2-497C-BED5-779D5208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85FE3E-6FF0-4370-8243-04DD9560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81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D62FDC-7450-4257-A7A3-51EBDC06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676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284E5D-D43C-4331-A72B-EBA7A40B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76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933E3B-269B-4487-9A25-EEB673E8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676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D8BAEA-C11D-4FB5-9C77-E2BAEC8F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76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DD6207-C4F2-4A1B-91E8-45A9C942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676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91ECD8-58C1-4285-BF77-7876BEEC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76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CB8C21-5CBD-4330-BA5E-6FF8419E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676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1BC567-24BE-4119-B484-D417E701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76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4C0313-D7F8-49FC-AD39-C3F4D859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76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64C690-A969-4ABA-BD17-3AE53A88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76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55DEC4-C3FE-45D3-832A-664AAD77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7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4212A3-1EE9-4E6C-BA3B-FA6D33F2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17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84CBEB-6432-4F02-B0FB-5CE69AC3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17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655213-99A8-4576-B5B2-AED6C954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7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3A9478-AF06-41D8-8114-E44170AB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17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AAAF01-4EBB-4696-A53F-A284BA8C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17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213C57-2388-4524-9FDC-FEEBA9FA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17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A0F9B3-3C38-4BDB-88F4-B624FA5C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17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4AA2F7-5BCB-4DA8-8DDC-F915A899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7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6AEA339-F261-4CB2-BEEF-D9584913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171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249274-4156-4474-95D6-CE5E487E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B"/>
                </a:solidFill>
              </a:defRPr>
            </a:pPr>
            <a:r>
              <a:rPr sz="1575" b="0">
                <a:solidFill>
                  <a:srgbClr val="0F172B"/>
                </a:solidFill>
              </a:rPr>
              <a:t>• O cartão tem 15 furos: 3 linhas de 5 fios.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97DC31C-7440-4FBD-B598-FDE8C2E7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B"/>
                </a:solidFill>
              </a:defRPr>
            </a:pPr>
            <a:r>
              <a:rPr sz="1575" b="0">
                <a:solidFill>
                  <a:srgbClr val="0F172B"/>
                </a:solidFill>
              </a:rPr>
              <a:t>• Furo marcado levanta o fio correspondente.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27F386E-24AB-4628-89B3-AAFAF52F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336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B"/>
                </a:solidFill>
              </a:defRPr>
            </a:pPr>
            <a:r>
              <a:rPr sz="1575" b="0">
                <a:solidFill>
                  <a:srgbClr val="0F172B"/>
                </a:solidFill>
              </a:rPr>
              <a:t>• O tecido avalia densidade, regularidade, definição do desenho, custo e tamanho.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499C6B-93D3-42C4-9A42-E824A4D0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908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B"/>
                </a:solidFill>
              </a:defRPr>
            </a:pPr>
            <a:r>
              <a:rPr sz="1575" b="0">
                <a:solidFill>
                  <a:srgbClr val="0F172B"/>
                </a:solidFill>
              </a:rPr>
              <a:t>• Segredo para jogar: linhas com 2 ou 3 fios levantados e pouca repetição colada.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D323616-6CCD-4565-86D4-4FBB2B32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9716B"/>
                </a:solidFill>
              </a:defRPr>
            </a:pPr>
            <a:r>
              <a:rPr sz="1200" b="1">
                <a:solidFill>
                  <a:srgbClr val="79716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187383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283283-FD7E-4B4A-86F6-D56D5676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JOGO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DE69A-A3D6-4EA4-A5D8-2079E65C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Censo de Hollerith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6E28D-85F3-486C-B445-F33D1DB5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3619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EF3C6"/>
          </a:solidFill>
          <a:ln xmlns:a="http://schemas.openxmlformats.org/drawingml/2006/main" w="9525">
            <a:solidFill>
              <a:srgbClr val="BB4D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22643-4F47-4755-A8D4-A1B7B62B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5735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0712"/>
                </a:solidFill>
              </a:defRPr>
            </a:pPr>
            <a:r>
              <a:rPr sz="1350" b="1">
                <a:solidFill>
                  <a:srgbClr val="9F0712"/>
                </a:solidFill>
              </a:rPr>
              <a:t>CENSO 1890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56E69-5B73-4B31-80BF-89B40C02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87AFD-B40D-4116-85B5-5F0D5EA1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22ED2-540D-4A56-BC41-EA2D5350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14E7A-5DE0-48D4-A293-E84C69CB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2D30E-C66C-47CB-969F-EBAAAD13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7B1B6-EFC5-4700-AB1B-9545A642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765C5-F831-4392-B235-9CB03712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33D57-4679-4698-9D07-54960540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A207D-E3F2-4FA7-91E0-6B2A2AC6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94CE3-2D83-4067-AC57-3C603822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6E917-3FBD-4664-8C9B-C43CDEE8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FEE7FF-28E0-4978-90CE-F6BBE747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35EE4-F454-4785-9EC0-F1796DE6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CD86F9-C11F-44E7-89B7-C9E8FEBF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7A575F-CE32-447D-B6B5-5CE4D3E9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0058E-E35A-4227-B6AE-7899BC99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42731-5E36-4A8B-A48F-539F1F43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358C4E-FD18-49F9-B1ED-E8534334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F86200-4D03-4F28-BFFF-18C2342D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5384EC-80E8-455E-9993-A677D6BC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76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B973F6-9472-421F-8D4C-1BC7DD2A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57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AF2F7-ED67-42D6-9DA1-67742CBB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57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1ACD11-DDB6-4423-A1D1-7A555022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57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869A84-307D-464C-821E-96F60709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57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FEED40-0334-4C16-BAD5-16B4FB44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57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7BC278-2A62-4154-84E0-1B0832FD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8AEAF8-606E-4D8C-A5B1-DC2FFD93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857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35590E-C523-4B66-8979-C2C5F59A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57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3917DF-0B2A-41CA-9E10-936E3546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857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FDE614-1B30-4F52-A2D3-D1A8B85C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857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B3D7E5-3C20-4150-B67B-8D8F0E9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2DD5DC-0194-400E-BA7F-322F024D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515008-15EC-42AE-B6A6-F537D9FA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720DAB-5CF6-4DC8-8B63-A398685C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F05069-2DC4-401D-AAC5-85F10CFC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3357DD-C724-4A39-AD21-65205D88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2B5DB3-307A-4E26-AAAD-90CCA566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8DA0F5-CCA3-4599-BB7B-4CE238DB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9E39C1-016B-4C96-83E3-DBAD79D0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B0EBEC-2D14-45FC-ABF6-7BA3269E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0E5562-76CD-441F-887E-37A05767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86237C-EB47-469C-8A00-02FEA023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E0486E-C67A-4F33-B3E7-69AD37FC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0E5B69-799A-47B2-866C-8CB33D77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22CE3E-3AE9-4423-8B1E-76256B1B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456695-8FF6-496A-A5C5-EAAA6BA6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0862E5-D117-4531-8F56-CEC68868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DB41CD-AE96-485B-8A80-C83CF960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E4DEEF-BF74-439D-A405-FA3C098D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F650F6-058C-4000-9148-351EFF91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05A84F-D957-42C1-BF20-CDD2951B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B"/>
                </a:solidFill>
              </a:defRPr>
            </a:pPr>
            <a:r>
              <a:rPr sz="1575" b="0">
                <a:solidFill>
                  <a:srgbClr val="0F172B"/>
                </a:solidFill>
              </a:rPr>
              <a:t>• O jogador lê um prontuário e perfura categorias: sexo, idade, profissão, nacionalidade etc.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693308-2DBF-4B12-8975-7B8C4675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B"/>
                </a:solidFill>
              </a:defRPr>
            </a:pPr>
            <a:r>
              <a:rPr sz="1575" b="0">
                <a:solidFill>
                  <a:srgbClr val="0F172B"/>
                </a:solidFill>
              </a:rPr>
              <a:t>• A máquina valida se os furos representam corretamente a pessoa do censo.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D52DB8-D438-4096-B066-B697F493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B"/>
                </a:solidFill>
              </a:defRPr>
            </a:pPr>
            <a:r>
              <a:rPr sz="1575" b="0">
                <a:solidFill>
                  <a:srgbClr val="0F172B"/>
                </a:solidFill>
              </a:rPr>
              <a:t>• Conceito histórico: transformar pessoas e informações em dados tabuláveis.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C3734F6-C375-4A20-8510-09857FA2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B"/>
                </a:solidFill>
              </a:defRPr>
            </a:pPr>
            <a:r>
              <a:rPr sz="1575" b="0">
                <a:solidFill>
                  <a:srgbClr val="0F172B"/>
                </a:solidFill>
              </a:rPr>
              <a:t>• Ponto didático: classificação acelera análise, mas depende de codificação correta.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96641D-FC62-47D4-A3F6-E92ED0E2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9716B"/>
                </a:solidFill>
              </a:defRPr>
            </a:pPr>
            <a:r>
              <a:rPr sz="1200" b="1">
                <a:solidFill>
                  <a:srgbClr val="79716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894080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2B704A-8328-4E64-91F7-E9DD1309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JOGO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A9C2F-FA85-4679-9D1D-614A604D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Era IBM: sala de cartões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72661-275B-47B5-8E2B-FBFBDC38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619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EF3C6"/>
          </a:solidFill>
          <a:ln xmlns:a="http://schemas.openxmlformats.org/drawingml/2006/main" w="9525">
            <a:solidFill>
              <a:srgbClr val="BB4D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8E5BC-A866-4CAD-95F2-4BB0901D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0712"/>
                </a:solidFill>
              </a:defRPr>
            </a:pPr>
            <a:r>
              <a:rPr sz="1350" b="1">
                <a:solidFill>
                  <a:srgbClr val="9F0712"/>
                </a:solidFill>
              </a:rPr>
              <a:t>IBM CARDS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43680-7DAB-4A62-A1A0-093EE29E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F134D-DB4B-48C0-88EE-958B9064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42C4A-B920-45C5-B249-2BD7543F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EB54C-63C5-4D2A-BD26-3112BD4A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7C527-8A7F-4A88-A6E3-F23057AA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22A5F-AE45-46D4-971D-504D9D5E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3135E-3072-429D-9562-8B0E6801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49667-09D0-47B0-8CBE-74F9F665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985922-DE74-49F2-9F6A-17F80798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57A37-0379-445B-8145-CC904475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971D2-98B1-47B7-B374-810726EC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0FCB0-DC77-476F-AED2-C06EB1D6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D06795-B565-4E30-9C44-4B953A56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2956E-76A6-42D8-A23A-F59EFCC9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151BAB-3F87-4EDB-9BA9-E24E9376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40A571-6162-4F99-8B8D-6886AF5F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1251AC-F25F-4993-830F-555D328A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DD6C23-4279-4824-8619-EBB708BF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9933DA-7CB6-4A2F-9F39-EFA662BF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856E4F-8AC7-44F5-8B3B-891F2528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267D54-D0A8-4C06-B60B-240E69DC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89423E-21C0-4C16-96E2-C93A4EC4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CCD065-2209-4887-BB80-FFB0EF81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2FA1E8-5E03-4D9D-9B02-BB5E50ED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88CE7C-1F5D-4BB1-81A1-7026D080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024C4F-07DB-450C-89CC-6C5C6DE2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20FA90-EB07-42BE-AEAD-F163A4A4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F16EDA-ED7E-4AF4-8B55-E22B5D2C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839646-240A-4326-85E6-1AC81E3A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A095D6-BB49-4CF6-9CF5-E16C5D27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A7DBBE-FB6B-48BD-80C3-4F938A61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79FC06-BDB9-4D43-BB85-2CF52BD1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FA6321-5824-4B03-AA82-FDE50FA7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5438CB-5FA9-491E-9C9E-47D279D3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4DD612-AE41-4CDF-A1A2-C6C07923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4D8D62-77F8-4CB9-AE33-A418E17A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29B693-4AA7-428F-B79E-F6292674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3B14BF-F648-4660-8E57-98F2D341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DE1222-7C9E-45C8-BFEC-CED3D4CC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84BD07-F9F5-4306-900C-6A11CFF3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193735-2EDB-48DB-B334-A485A2FB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13CEB1-BE9C-4B24-A622-6219D404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0BF3EA-1F5B-4C8B-8F9B-A6574C86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C39A6D-A837-4E94-9A46-CEE98E31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3FC99E-BC37-46CB-A435-9D3B1089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831B2E-A807-4948-B20E-5DD95260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4EA5C0-867D-476E-AC9A-750B634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4C6D69-B081-46E4-8F24-4654C4D9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EFEBCA-9347-4512-AA5B-FDD34F55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97DAF65-A0F0-4CA2-B0E7-CBE05B91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7C3317-F99E-4523-8660-FA126049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B"/>
                </a:solidFill>
              </a:defRPr>
            </a:pPr>
            <a:r>
              <a:rPr sz="1575" b="0">
                <a:solidFill>
                  <a:srgbClr val="0F172B"/>
                </a:solidFill>
              </a:rPr>
              <a:t>• O baralho precisa passar por máquinas certas na ordem certa.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383878A-A67C-4AB3-AC90-43130683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B"/>
                </a:solidFill>
              </a:defRPr>
            </a:pPr>
            <a:r>
              <a:rPr sz="1575" b="0">
                <a:solidFill>
                  <a:srgbClr val="0F172B"/>
                </a:solidFill>
              </a:rPr>
              <a:t>• Verificadora evita erro; classificadora ordena; coladora junta arquivo mestre; tabuladora soma.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4C1A94-ADFB-430D-9ACD-2011CAC7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384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B"/>
                </a:solidFill>
              </a:defRPr>
            </a:pPr>
            <a:r>
              <a:rPr sz="1575" b="0">
                <a:solidFill>
                  <a:srgbClr val="0F172B"/>
                </a:solidFill>
              </a:rPr>
              <a:t>• O desafio é montar o fluxo de processamento, não apenas clicar rápido.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DAAB0A-BCA3-4B39-A2EF-2CAAA0FD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956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B"/>
                </a:solidFill>
              </a:defRPr>
            </a:pPr>
            <a:r>
              <a:rPr sz="1575" b="0">
                <a:solidFill>
                  <a:srgbClr val="0F172B"/>
                </a:solidFill>
              </a:rPr>
              <a:t>• Ponto didático: processamento empresarial era uma linha de produção de dados.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B4E5CD-95E6-4F6C-A9B4-86F1D480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9716B"/>
                </a:solidFill>
              </a:defRPr>
            </a:pPr>
            <a:r>
              <a:rPr sz="1200" b="1">
                <a:solidFill>
                  <a:srgbClr val="79716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024633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13BD57-FDAD-4AE8-886F-BE37D440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JOGO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A302E-82A5-4485-914A-AFE44F7A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FORTRAN: pilha de cartões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8A2F9-0301-4DF9-B6BB-25A51388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3619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EF3C6"/>
          </a:solidFill>
          <a:ln xmlns:a="http://schemas.openxmlformats.org/drawingml/2006/main" w="9525">
            <a:solidFill>
              <a:srgbClr val="BB4D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4EF2B-9368-47D0-BCFC-C8FAE84B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5735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0712"/>
                </a:solidFill>
              </a:defRPr>
            </a:pPr>
            <a:r>
              <a:rPr sz="1350" b="1">
                <a:solidFill>
                  <a:srgbClr val="9F0712"/>
                </a:solidFill>
              </a:rPr>
              <a:t>PUNCHER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B4E20-1F07-46F4-9AE9-CDE0CC39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04CDF-6C77-4657-A9AF-BD8C83B2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B75A2-71D6-4A5E-ABEA-766930B8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459B9-0619-4A96-9943-1FF0A240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F4F3A-17DB-4A06-834E-96BE2E2E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DF2CB-1631-4120-BC18-052EB4E4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C5D52-6A1C-470A-9E99-ADDC5329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C4AC7-481B-47E6-B6BF-899145D4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785F3-4D02-4F23-8CE2-F5AB6EE2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89E50-4824-4977-B17A-00A17D3C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409F7-5DAD-4469-80DA-90852B9F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14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B46AC-6998-4B96-BB32-765E1113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14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1F7F0-3E75-4F79-B26B-84C1035D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14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B223B-30A6-4566-BCD5-80003725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14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97F9D2-91F3-442B-8609-B6D01190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14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844A7C-483B-4831-9C3E-7FCD8333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14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2EFB56-4020-4C66-829F-5BC7B66A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514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B439AF-FB9B-4BCD-BDD3-0EADA0D2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14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58429-0BA0-4322-9602-22CD2D4A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514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CCC69-B014-4BDF-8845-4B5A4BFC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146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51A552-7AE6-4208-810D-36E86F3D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33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D140EE-4DDE-40AF-9423-0E21BF3C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33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723FB3-682B-442C-92D7-64F82268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933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9191C4-1FEC-4DBB-B4BA-EFF67314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33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2592A-3A84-4AEC-86BF-6A9CF3FC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933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7F8CB9-DB6A-4CC5-B585-C28B0E5B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33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AE933D-38B2-44D6-B8C6-A7EF4469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933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80B1A8-83D9-4578-86C3-049F2DC4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33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ADBA1C-6D41-4D20-B29C-DFC20040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933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6BB96F-A883-4B26-AB50-DC56E96E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33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009AA7-919C-46D6-9D6D-56D9B41A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52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C46611-E6CE-4AE8-B2AA-2B6B95CB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52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B31700-D67A-407E-9EA5-594AEB9B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352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2C09A0-D78C-4FF1-A5FB-BE8376E8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52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262C01-0C9D-43D2-B420-71E63ED1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352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DB2737-9F0F-4C0A-8C3B-DDE29493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D04DB0-B4A5-4D48-A200-89017A7A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352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2DFFCB-D167-49BA-A742-580C47B1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52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E1E2ED-F001-4E20-B922-F35E689F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352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F2F255-4F96-4232-9A79-5B4C8076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52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D3425C-F2F0-4AEA-90FF-0C734A2A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71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54D0F4-8A38-4DC6-A2A3-04C1FF85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71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B4955B-BE8D-4747-A1C5-33C03DAE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71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05ED52-A389-4409-B629-0C126F04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71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9436C3-1D5E-4944-A0D5-96959F64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771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71F2C9-A214-4C96-9D8A-7E92AD61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71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59F492-D519-428B-8E68-974885FF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771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BCCFC2-3FF9-47AA-A3B3-71DFD613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71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17EF46-9B37-4405-AE8B-797D41A9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771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DB589E-BAAE-4B48-86F8-BFE61B53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771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AAAB67-006C-4160-965A-5C6AF1C4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B"/>
                </a:solidFill>
              </a:defRPr>
            </a:pPr>
            <a:r>
              <a:rPr sz="1575" b="0">
                <a:solidFill>
                  <a:srgbClr val="0F172B"/>
                </a:solidFill>
              </a:rPr>
              <a:t>• Cada cartão representa uma linha de programa.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FE4D6A-5D91-4A7E-87A7-4F3FBB96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B"/>
                </a:solidFill>
              </a:defRPr>
            </a:pPr>
            <a:r>
              <a:rPr sz="1575" b="0">
                <a:solidFill>
                  <a:srgbClr val="0F172B"/>
                </a:solidFill>
              </a:rPr>
              <a:t>• A ordem da pilha altera variáveis, IF, GOTO, DO e PRINT.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B2A0E6-061F-4EE1-8D4D-29437B03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B"/>
                </a:solidFill>
              </a:defRPr>
            </a:pPr>
            <a:r>
              <a:rPr sz="1575" b="0">
                <a:solidFill>
                  <a:srgbClr val="0F172B"/>
                </a:solidFill>
              </a:rPr>
              <a:t>• O aluno monta a sequência e executa no leitor.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165896-87E6-4EB0-BE60-C673CA50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B"/>
                </a:solidFill>
              </a:defRPr>
            </a:pPr>
            <a:r>
              <a:rPr sz="1575" b="0">
                <a:solidFill>
                  <a:srgbClr val="0F172B"/>
                </a:solidFill>
              </a:rPr>
              <a:t>• Ponto didático: programação também já foi um objeto físico, ordenado e frágil.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5CC305-8FEA-457C-9C5D-847D5FD1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9716B"/>
                </a:solidFill>
              </a:defRPr>
            </a:pPr>
            <a:r>
              <a:rPr sz="1200" b="1">
                <a:solidFill>
                  <a:srgbClr val="79716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354261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21DC16-2C22-499D-BA66-2EA5A751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JOGO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1A37B-76F4-4C7C-9D6C-6AE2F6F5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Caça ao Erro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D3E54-CE63-4328-94EA-47C0774A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Um cartão no lote tem comportamento suspeito.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CBCA6-AB69-43C9-B93B-B82817D4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O console dá pistas, e o jogador precisa inspecionar cartões antes do tempo acabar.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57250-96D4-464E-9041-DDD9A1EE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A mecânica representa debugging: observar sintomas, formular hipótese e testar.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D6305-A4D8-48DD-9FC6-58C264E5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Conexão histórica: “bug” vira metáfora para falha que interrompe execução.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A8AEE-F4D9-48C8-8DB8-12F44738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00786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0D166-0234-4197-8E8E-2CBB322E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6F7E4"/>
                </a:solidFill>
              </a:defRPr>
            </a:pPr>
            <a:r>
              <a:rPr sz="2250" b="1">
                <a:solidFill>
                  <a:srgbClr val="96F7E4"/>
                </a:solidFill>
              </a:rPr>
              <a:t>Console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2EC48-E3FF-441E-BB1C-9B2DA4F5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193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EF3C6"/>
                </a:solidFill>
              </a:defRPr>
            </a:pPr>
            <a:r>
              <a:rPr sz="1800" b="1">
                <a:solidFill>
                  <a:srgbClr val="FEF3C6"/>
                </a:solidFill>
              </a:rPr>
              <a:t>CHECKSUM OK</a:t>
            </a:r>
          </a:p>
          <a:p xmlns:a="http://schemas.openxmlformats.org/drawingml/2006/main">
            <a:pPr algn="l">
              <a:defRPr sz="1800" b="1">
                <a:solidFill>
                  <a:srgbClr val="FEF3C6"/>
                </a:solidFill>
              </a:defRPr>
            </a:pPr>
            <a:r>
              <a:rPr sz="1800" b="1">
                <a:solidFill>
                  <a:srgbClr val="FEF3C6"/>
                </a:solidFill>
              </a:rPr>
              <a:t>CARD 07: fluxo inesperado</a:t>
            </a:r>
          </a:p>
          <a:p xmlns:a="http://schemas.openxmlformats.org/drawingml/2006/main">
            <a:pPr algn="l">
              <a:defRPr sz="1800" b="1">
                <a:solidFill>
                  <a:srgbClr val="FEF3C6"/>
                </a:solidFill>
              </a:defRPr>
            </a:pPr>
            <a:r>
              <a:rPr sz="1800" b="1">
                <a:solidFill>
                  <a:srgbClr val="FEF3C6"/>
                </a:solidFill>
              </a:rPr>
              <a:t>PROCURE O ERRO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6B1A7-B2EE-4F04-A6AE-4B4087F0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9716B"/>
                </a:solidFill>
              </a:defRPr>
            </a:pPr>
            <a:r>
              <a:rPr sz="1200" b="1">
                <a:solidFill>
                  <a:srgbClr val="79716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39017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A01043-F6AC-48C4-8119-DC3F4334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JOGO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103FE-FC54-476E-80FA-8C49AA99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Batalha de Cartões Perfurados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397B5-C1E2-4DDD-95EA-5FEF7C1B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Multiplayer online: a rodada mostra uma instrução-alvo.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7BA7C-BD8B-4F7B-9F31-45C75994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Cada jogador monta a grade de furos e envia o cartão.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DF5A0-FC7E-4379-8382-A07607A6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Vence quem acertar melhor; em empate, ganha o menor tempo de envio.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22B47-81EF-4B49-990E-BDCEEFC1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A IA simula oponente com pequenos erros e tempos variados.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16416-BF70-4F3B-878C-D698C922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097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EF3C6"/>
          </a:solidFill>
          <a:ln xmlns:a="http://schemas.openxmlformats.org/drawingml/2006/main" w="9525">
            <a:solidFill>
              <a:srgbClr val="BB4D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16A93-152F-4B9D-B78C-84F3665C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907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READ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BA006-963A-4D78-95D8-CF302858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81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F0712"/>
                </a:solidFill>
              </a:defRPr>
            </a:pPr>
            <a:r>
              <a:rPr sz="1500" b="1">
                <a:solidFill>
                  <a:srgbClr val="9F0712"/>
                </a:solidFill>
              </a:rPr>
              <a:t>Furos: 2, 15, 26, 39, 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4E29C-F337-4913-B945-4A2DF72F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05150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86F"/>
                </a:solidFill>
              </a:defRPr>
            </a:pPr>
            <a:r>
              <a:rPr sz="1800" b="1">
                <a:solidFill>
                  <a:srgbClr val="00786F"/>
                </a:solidFill>
              </a:rPr>
              <a:t>Acerto + velocidade = pontuação da rodada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DA8D9-017E-48E4-883D-A2542A8B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9716B"/>
                </a:solidFill>
              </a:defRPr>
            </a:pPr>
            <a:r>
              <a:rPr sz="1200" b="1">
                <a:solidFill>
                  <a:srgbClr val="79716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415464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3DBD4E-5EC6-41BF-BD4E-9F041B66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JOGO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C112A-AF68-43C3-8639-D8E23B4B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IA Scanner de Cartões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9B1DC-3E25-409B-8A5D-C7870BE1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O aluno mostra um cartão para a câmera ou carrega uma foto.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20004-B138-48BF-98C6-C21F5825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O sistema detecta se há cartão na moldura e lê os furos.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B949C-E9FA-4D77-AA7A-FF17DED3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Fotos rotuladas formam um dataset local; o modelo treina no navegador com TensorFlow.js.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0AFFE-17B0-43F0-B039-5CE183D6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Ponto didático: IA depende de exemplos, rótulos e dados bem coletados.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AE008-47DE-4D7F-B9ED-A8AD7BB4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EF3C6"/>
          </a:solidFill>
          <a:ln xmlns:a="http://schemas.openxmlformats.org/drawingml/2006/main" w="9525">
            <a:solidFill>
              <a:srgbClr val="BB4D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1DB65-9B33-4C67-995A-3233C92C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5260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0712"/>
                </a:solidFill>
              </a:defRPr>
            </a:pPr>
            <a:r>
              <a:rPr sz="1350" b="1">
                <a:solidFill>
                  <a:srgbClr val="9F0712"/>
                </a:solidFill>
              </a:rPr>
              <a:t>DATASET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65299-8AB2-43DF-8240-ABFD5987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68EE9-F403-4010-AE31-AB104192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48C4D-6ADE-4ECE-88A6-597F599C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9EF97-F121-42D5-B844-A7E9668A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4547F-65BF-4308-B4E4-66955BC3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C17B5-1074-481B-BB36-903543CD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43D24-FA25-4CB3-80B8-9173FBC9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B437B-A713-4A79-B994-5679862E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BA7704-D112-46B5-A384-9B6253C6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D5688-BF96-44BD-8A57-13789CCD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190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A71CE-48AB-4075-A354-9BCD4F94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99EA7-13D5-438E-8CCE-E5669478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E88064-F217-4078-B885-4EB1F31D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5A2060-9175-489B-A74C-3B865F26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E4302-2FD7-4AE2-9D47-EB07D733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12B94F-E57C-48AC-B1C1-BB608604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A387CC-33CE-444A-9DBD-370C0199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FDE47-A1E4-494A-B005-11A1E24D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C5B938-C973-4BCC-A980-2A936C3E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3B48A4-5F1A-46A5-9D4E-AB94D4E9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28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A0EACA-3420-416B-B65A-277EAA70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165479-5AAB-4952-AF6B-DC61F676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744FC8-92D3-4D5B-89EC-B395F860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1D0777-123E-4435-83CA-7ED38BFA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826CF2-680A-41FE-8E2B-4545EC9D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12E50A-789A-483E-9472-B66CC7EB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ADE3EB-1FAD-49AA-B33B-21037E2B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D7F8CF-F97A-4534-9356-580C7CB7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3A7BC2-88AC-4BA4-B69C-6C3BA3F2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210BE1-D76E-44DB-9A1D-46E94FDA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67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9656A9-CD6A-42B0-98E9-C17106C3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41901A-D933-41CB-8825-39B1037C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16044C-082B-4160-8C37-C3F03C60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89CF1C-3DBC-48FA-A067-E95B6868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D3B43E-6463-4256-A114-36F6446C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F4E001-9CCD-4582-8721-AD698788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19199B-7B78-4C5D-9B66-848A72C1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91E61C-3D27-4F6B-86AC-7D0BE8D9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1A8454-D008-4364-9306-180AD9F5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FB0806-06D9-4FF2-AB75-EF60C38F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505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0D120C-2F56-46C2-B03E-5047AA32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403CFA-BFB8-40BA-B08E-2F1ADDE7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600C19-5C1C-4C77-96A5-72ED5ADA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A57323-78B4-4E4F-915C-0A2A2D64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1F4AA02-06F8-4301-A148-95542BC6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88A38D-476D-449F-BE57-5C162D85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7B6023-FB6F-4248-990B-E558C9FD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43B8490-AE90-42BE-8337-6C15CE63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57B9E76-A674-486F-AE8D-8081329C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A27340-FFCC-4B3E-8E5A-968ADB5E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43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9525">
            <a:solidFill>
              <a:srgbClr val="57534D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C324489-7F87-4A5A-B72A-1C181281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9716B"/>
                </a:solidFill>
              </a:defRPr>
            </a:pPr>
            <a:r>
              <a:rPr sz="1200" b="1">
                <a:solidFill>
                  <a:srgbClr val="79716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34645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D49592-FA2A-478A-AEDD-62CA7574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ROTEIRO DE AULA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77743-A15F-46FA-AE8E-E14C0690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Como conduzir em 20-30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3E72F-95A5-4711-A369-88EE2E0C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1. Comece com a pergunta: “como um computador lia antes do teclado?”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5F13A-0825-4247-9875-C9948F04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2. Mostre Jacquard e faça a turma prever quais fios sobem.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EA11D-044F-4284-A47A-D6FE6271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3. Use Hollerith e IBM para falar de dados em lote.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3D4E9-E20E-4AC1-88C2-A3F8EEDE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4. Use FORTRAN e Debug para mostrar programação como pilha física.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F64FF-C96D-4BBE-9E44-252E3D0B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B"/>
                </a:solidFill>
              </a:defRPr>
            </a:pPr>
            <a:r>
              <a:rPr sz="1650" b="0">
                <a:solidFill>
                  <a:srgbClr val="0F172B"/>
                </a:solidFill>
              </a:rPr>
              <a:t>• 5. Termine com IA/Moderno: o mesmo cartão vira dataset e competição online.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D9C81-2901-4E37-ACC6-0777E768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F0712"/>
                </a:solidFill>
              </a:defRPr>
            </a:pPr>
            <a:r>
              <a:rPr sz="1950" b="1">
                <a:solidFill>
                  <a:srgbClr val="9F0712"/>
                </a:solidFill>
              </a:rPr>
              <a:t>Fechamento: a computação moderna não surgiu do nada; ela herdou ideias de automação, codificação e leitura mecânica.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435E1-ACEC-428E-91E1-B6EFBEAA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9716B"/>
                </a:solidFill>
              </a:defRPr>
            </a:pPr>
            <a:r>
              <a:rPr sz="1200" b="1">
                <a:solidFill>
                  <a:srgbClr val="79716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94950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396B43-E06D-4B41-94CC-93F2D684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FONTES VISUAIS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B140E-8DB1-491C-A668-01842E8F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Imagens históricas usadas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301DA-D302-4F9F-A8F7-D476C17E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• Wikipedia/Wikimedia Commons: artigo “Punched card”.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B13C9-B0B8-4F5B-954B-1EAB1492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• Imagem do tear de Jacquard: DMM 29263ab Jacquardwebstuhl.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6737E-1837-48E7-9EA7-25FCE8A6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• Cartão Hollerith: Hollerith punched card.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FF06C-4B86-46ED-B576-8A59E9B1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• Cartões IBM: 2punchCards-square.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1D8FC-0EEF-42C7-94C8-FD43F7D0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• Perfuradora de cartões: imagem NARA da card puncher.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160EC-3550-40DF-A38B-478CBFA3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86F"/>
                </a:solidFill>
              </a:defRPr>
            </a:pPr>
            <a:r>
              <a:rPr sz="1800" b="1">
                <a:solidFill>
                  <a:srgbClr val="00786F"/>
                </a:solidFill>
              </a:rPr>
              <a:t>Todas as regras explicadas no deck foram extraídas da lógica dos arquivos do próprio jogo.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347AB-41E6-4A2B-BD89-E7CEE2B3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9716B"/>
                </a:solidFill>
              </a:defRPr>
            </a:pPr>
            <a:r>
              <a:rPr sz="1200" b="1">
                <a:solidFill>
                  <a:srgbClr val="79716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05779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2026-06-30T03:03:19.3680000Z</dcterms:created>
  <dcterms:modified xsi:type="dcterms:W3CDTF">2026-06-30T03:03:19.3680000Z</dcterms:modified>
</coreProperties>
</file>